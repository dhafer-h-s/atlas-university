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72" r:id="rId2"/>
    <p:sldId id="256" r:id="rId3"/>
    <p:sldId id="279" r:id="rId4"/>
    <p:sldId id="286" r:id="rId5"/>
    <p:sldId id="285" r:id="rId6"/>
    <p:sldId id="281" r:id="rId7"/>
    <p:sldId id="282" r:id="rId8"/>
    <p:sldId id="283" r:id="rId9"/>
    <p:sldId id="284" r:id="rId10"/>
    <p:sldId id="273" r:id="rId11"/>
    <p:sldId id="270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8" autoAdjust="0"/>
    <p:restoredTop sz="86544" autoAdjust="0"/>
  </p:normalViewPr>
  <p:slideViewPr>
    <p:cSldViewPr snapToGrid="0">
      <p:cViewPr varScale="1">
        <p:scale>
          <a:sx n="76" d="100"/>
          <a:sy n="76" d="100"/>
        </p:scale>
        <p:origin x="8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1FA38-B8FA-4A6C-9A0B-C2BA2C10988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E71D3-75AC-4EE8-80AF-450C621F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6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CE2A-151D-107F-39A1-4ACD773F3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E679D-5008-5CFE-3EDD-3EC3D86C6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F9153-3BBC-B2A6-7E7D-AA1B1E19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F2CEB-260A-23D6-5DE1-C29BA01F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08EC6-37FE-6250-E993-EC784E97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887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A9D8-B176-8C73-CE69-A432F3FB0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0895-15AE-1BFB-736F-F421DB46D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CE040-BE7C-35F8-5A7B-6930D4AC0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CBA92-E120-4545-FA3C-C490652B5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62885-52A5-6EBB-7D40-00418F65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097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C5B75-1883-956B-4CDA-12803127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448AC-9696-9D40-BE84-97E28D596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86D91-4EB6-2BFD-4802-329F9C42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15EDB-FE96-DC51-EB86-87300F5A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64D4E-4542-8862-ACF4-5909F532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131A17-6F03-2F9E-BD29-E15FA6A7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38" y="6010277"/>
            <a:ext cx="595312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2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E2E5-F9CA-066C-2AE3-671D9FCB4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ACCC7-B07C-3961-1F23-A754839A77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1692D-430F-5417-578B-622DF39A7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2E11-A03A-ABF3-FD0C-A9E3AB19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934BE-61E9-6CD3-A368-97ADA82BB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85BE5-8887-EE35-1981-D0A4E24FA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852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C254-87D7-593E-BEC2-EBD96A145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8625F-0DDF-3CA6-0E09-1C3E339EB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FDEAD-1835-83BB-CB0A-D5139F54B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04B1F-95B2-772E-0563-B87767FDBE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32784-68AF-6079-6DB2-A53808C9F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7CF5E-E70C-A9BA-D8FF-AA1DC191C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9BF895-271A-9C60-C7DE-0D095F7E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5340F-8D83-F6FB-476B-D6CA89A3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154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F4D0-2223-48DA-002B-4DAA2C4E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12E34-8A8B-ACAF-B003-E2556956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92E98-F339-B291-EAF4-9DB9FE71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BF786-9DEB-0C43-B879-E04B6F53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369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A0723-EB1D-7CC6-24C0-9F078D0D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F792D-2D06-E0C3-6CA5-6B913E5AF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63D67-60C9-D352-71E7-10ECCDC66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061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35FAB-D7BE-6173-1A0F-8A271013C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14650-69A6-5CF1-7FC4-8B1E1D04B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86585-9F9C-2810-F98C-46CABC424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1B898-AC79-38E0-25D3-E088B68A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A924B-AC64-F1A2-FFD3-3D485B6C3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48DF8-4AAA-9967-698B-D2041279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444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84E7-489B-3AAB-CE7F-8B45231C9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35BDE-ED8D-C01F-9647-CA8E244CA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98A9B-FE24-23D7-237B-874D6F0AA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BD84F-839C-352E-78CF-AF0EB639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C12FA-6EF4-ECBC-C713-64F3F290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F0D9E-760E-4AE0-7FFD-12D0E993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953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CDE8-5967-329C-1245-0D58FDE8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50E7D-74F6-21B0-DE32-A774D4B0F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ECD4A-00A6-DE97-BECA-9C57F4922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CC6B2-442D-64BD-0A69-F0F2DE3B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C3576-D697-2123-B4C7-1DBC2C0BA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7816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2ADB05-5F96-C703-4A29-EDC778A9F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746FB-87D3-845F-B207-ECC4548A2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AAA4E-30B2-4C76-C242-F4B6036E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A626A-DF96-B4D2-19BF-7AF659FB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2A970-9DD1-53A8-AFF5-F2E507FB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5112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14788-856A-37D5-BBB8-D62920685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4D25D-6E4B-4D13-E9C0-47A4580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ADC8A-EC80-A791-651F-4FCB1539C2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35116-D615-48EF-BE45-AFBBABB363C8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FDA9C-791C-622D-1E24-84D177FB0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363B1-E232-7E87-E9C6-67DFF82DA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A3166-5A1A-4BBE-9873-6F38A773DB5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0620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702676"/>
          </a:xfrm>
        </p:spPr>
        <p:txBody>
          <a:bodyPr>
            <a:normAutofit fontScale="90000"/>
          </a:bodyPr>
          <a:lstStyle/>
          <a:p>
            <a:r>
              <a:rPr lang="tr-TR" b="1" dirty="0"/>
              <a:t>Technical Notes for team members</a:t>
            </a:r>
            <a:r>
              <a:rPr lang="tr-TR" dirty="0"/>
              <a:t/>
            </a:r>
            <a:br>
              <a:rPr lang="tr-TR" dirty="0"/>
            </a:br>
            <a:r>
              <a:rPr lang="tr-TR" dirty="0"/>
              <a:t>	This presentation should be a technical presentation</a:t>
            </a:r>
            <a:br>
              <a:rPr lang="tr-TR" dirty="0"/>
            </a:br>
            <a:r>
              <a:rPr lang="tr-TR" dirty="0"/>
              <a:t>	Maximum </a:t>
            </a:r>
            <a:r>
              <a:rPr lang="en-GB" dirty="0"/>
              <a:t>15</a:t>
            </a:r>
            <a:r>
              <a:rPr lang="tr-TR" dirty="0"/>
              <a:t> pages</a:t>
            </a:r>
          </a:p>
        </p:txBody>
      </p:sp>
      <p:graphicFrame>
        <p:nvGraphicFramePr>
          <p:cNvPr id="6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2128851"/>
              </p:ext>
            </p:extLst>
          </p:nvPr>
        </p:nvGraphicFramePr>
        <p:xfrm>
          <a:off x="265048" y="1971949"/>
          <a:ext cx="11661913" cy="5073133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4427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647">
                <a:tc>
                  <a:txBody>
                    <a:bodyPr/>
                    <a:lstStyle/>
                    <a:p>
                      <a:r>
                        <a:rPr lang="en-US" sz="2800" dirty="0"/>
                        <a:t>Presentation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Project</a:t>
                      </a:r>
                      <a:r>
                        <a:rPr lang="en-US" sz="2800" baseline="0" dirty="0"/>
                        <a:t> </a:t>
                      </a:r>
                      <a:r>
                        <a:rPr lang="tr-TR" sz="2800" baseline="0" dirty="0"/>
                        <a:t>Technical</a:t>
                      </a:r>
                      <a:r>
                        <a:rPr lang="en-US" sz="2800" baseline="0" dirty="0"/>
                        <a:t> Presentation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Goals</a:t>
                      </a:r>
                      <a:endParaRPr lang="en-US" sz="2000" b="1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4488" marR="0" lvl="1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000" kern="1200" dirty="0"/>
                        <a:t>List top 3 agreed upon goals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tr-TR" sz="2000" b="1" dirty="0"/>
                        <a:t>Design &amp; Implementation</a:t>
                      </a:r>
                      <a:endParaRPr lang="en-US" sz="2000" b="1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4488" marR="0" lvl="1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000" kern="1200" dirty="0"/>
                        <a:t>Overview of the</a:t>
                      </a:r>
                      <a:r>
                        <a:rPr lang="tr-TR" sz="2000" kern="1200" baseline="0" dirty="0"/>
                        <a:t> design</a:t>
                      </a:r>
                      <a:r>
                        <a:rPr lang="en-US" sz="2000" kern="1200" dirty="0"/>
                        <a:t> technique</a:t>
                      </a:r>
                      <a:r>
                        <a:rPr lang="tr-TR" sz="2000" kern="1200" dirty="0"/>
                        <a:t>,</a:t>
                      </a:r>
                      <a:r>
                        <a:rPr lang="tr-TR" sz="2000" kern="1200" baseline="0" dirty="0"/>
                        <a:t> m</a:t>
                      </a:r>
                      <a:r>
                        <a:rPr lang="en-US" sz="2000" kern="1200" dirty="0" err="1"/>
                        <a:t>ethodology</a:t>
                      </a:r>
                      <a:r>
                        <a:rPr lang="tr-TR" sz="2000" kern="1200" dirty="0"/>
                        <a:t> and implementation steps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en-US" sz="2000" b="1" dirty="0"/>
                        <a:t>3 key points </a:t>
                      </a:r>
                      <a:endParaRPr lang="en-US" sz="2000" b="1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4488" marR="0" lvl="1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000" kern="1200" dirty="0"/>
                        <a:t>Support key points with simple charts</a:t>
                      </a:r>
                      <a:r>
                        <a:rPr lang="tr-TR" sz="2000" kern="1200" dirty="0"/>
                        <a:t>,</a:t>
                      </a:r>
                      <a:r>
                        <a:rPr lang="en-US" sz="2000" kern="1200" dirty="0"/>
                        <a:t> graphics</a:t>
                      </a:r>
                      <a:r>
                        <a:rPr lang="tr-TR" sz="2000" kern="1200" dirty="0"/>
                        <a:t>, </a:t>
                      </a:r>
                      <a:r>
                        <a:rPr lang="tr-TR" sz="2000" kern="1200" dirty="0" err="1"/>
                        <a:t>timing</a:t>
                      </a:r>
                      <a:r>
                        <a:rPr lang="tr-TR" sz="2000" kern="1200" dirty="0"/>
                        <a:t> </a:t>
                      </a:r>
                      <a:r>
                        <a:rPr lang="tr-TR" sz="2000" kern="1200" dirty="0" err="1"/>
                        <a:t>diagrams</a:t>
                      </a:r>
                      <a:r>
                        <a:rPr lang="tr-TR" sz="2000" kern="1200" dirty="0"/>
                        <a:t>, </a:t>
                      </a:r>
                      <a:r>
                        <a:rPr lang="tr-TR" sz="2000" kern="1200" dirty="0" err="1"/>
                        <a:t>circuit</a:t>
                      </a:r>
                      <a:r>
                        <a:rPr lang="tr-TR" sz="2000" kern="1200" dirty="0"/>
                        <a:t> </a:t>
                      </a:r>
                      <a:r>
                        <a:rPr lang="tr-TR" sz="2000" kern="1200" dirty="0" err="1"/>
                        <a:t>diagrams</a:t>
                      </a:r>
                      <a:r>
                        <a:rPr lang="tr-TR" sz="2000" kern="1200" dirty="0"/>
                        <a:t>, </a:t>
                      </a:r>
                      <a:r>
                        <a:rPr lang="tr-TR" sz="2000" kern="1200" dirty="0" err="1"/>
                        <a:t>design</a:t>
                      </a:r>
                      <a:r>
                        <a:rPr lang="tr-TR" sz="2000" kern="1200" dirty="0"/>
                        <a:t> </a:t>
                      </a:r>
                      <a:r>
                        <a:rPr lang="tr-TR" sz="2000" kern="1200" dirty="0" err="1"/>
                        <a:t>and</a:t>
                      </a:r>
                      <a:r>
                        <a:rPr lang="tr-TR" sz="2000" kern="1200" dirty="0"/>
                        <a:t> </a:t>
                      </a:r>
                      <a:r>
                        <a:rPr lang="tr-TR" sz="2000" kern="1200" dirty="0" err="1"/>
                        <a:t>implementations</a:t>
                      </a:r>
                      <a:r>
                        <a:rPr lang="tr-TR" sz="2000" kern="1200" dirty="0"/>
                        <a:t> </a:t>
                      </a:r>
                      <a:r>
                        <a:rPr lang="tr-TR" sz="2000" kern="1200" dirty="0" err="1"/>
                        <a:t>methodology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120">
                <a:tc>
                  <a:txBody>
                    <a:bodyPr/>
                    <a:lstStyle/>
                    <a:p>
                      <a:r>
                        <a:rPr lang="en-US" sz="2000" b="1" dirty="0"/>
                        <a:t>Main Findings  </a:t>
                      </a:r>
                      <a:endParaRPr lang="en-US" sz="2000" b="1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4488" marR="0" lvl="1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000" kern="1200" dirty="0"/>
                        <a:t>Emphasize key message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8013">
                <a:tc>
                  <a:txBody>
                    <a:bodyPr/>
                    <a:lstStyle/>
                    <a:p>
                      <a:r>
                        <a:rPr lang="tr-TR" sz="2000" b="1" dirty="0"/>
                        <a:t>Conclusion</a:t>
                      </a:r>
                    </a:p>
                    <a:p>
                      <a:r>
                        <a:rPr lang="tr-TR" sz="2000" b="1" i="0" dirty="0"/>
                        <a:t>Acknowlegments</a:t>
                      </a:r>
                      <a:endParaRPr lang="en-US" sz="2000" b="1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4488" marR="0" lvl="1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tr-TR" sz="2000" kern="1200" dirty="0"/>
                        <a:t>Concluding</a:t>
                      </a:r>
                      <a:r>
                        <a:rPr lang="tr-TR" sz="2000" kern="1200" baseline="0" dirty="0"/>
                        <a:t> remarks and acknowledgments (if necessary)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61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6FFBC-AC9F-48D6-993B-B0DE156D4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88904" y="305067"/>
            <a:ext cx="12192000" cy="1027289"/>
          </a:xfrm>
        </p:spPr>
        <p:txBody>
          <a:bodyPr>
            <a:normAutofit fontScale="90000"/>
          </a:bodyPr>
          <a:lstStyle/>
          <a:p>
            <a:r>
              <a:rPr lang="en-GB" sz="5400" b="1" dirty="0"/>
              <a:t>Interdisciplinary Design Studies</a:t>
            </a:r>
            <a:endParaRPr lang="tr-TR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14ABF-B72A-4E5C-A4C4-2A1B7211C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486" y="3066146"/>
            <a:ext cx="12012685" cy="1261313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Code and name of the course</a:t>
            </a:r>
            <a:endParaRPr lang="tr-TR" b="1" dirty="0"/>
          </a:p>
          <a:p>
            <a:r>
              <a:rPr lang="tr-TR" b="1" dirty="0"/>
              <a:t>Project No: 1</a:t>
            </a:r>
          </a:p>
          <a:p>
            <a:r>
              <a:rPr lang="tr-TR" sz="2000" b="1" dirty="0"/>
              <a:t>Project Supervisor: </a:t>
            </a:r>
            <a:r>
              <a:rPr lang="tr-TR" sz="2000" b="1" dirty="0" err="1"/>
              <a:t>Assoc.Prof</a:t>
            </a:r>
            <a:r>
              <a:rPr lang="tr-TR" sz="2000" b="1" dirty="0"/>
              <a:t>. Name </a:t>
            </a:r>
            <a:r>
              <a:rPr lang="tr-TR" sz="2000" b="1" dirty="0" err="1"/>
              <a:t>Surname</a:t>
            </a:r>
            <a:endParaRPr lang="tr-TR" sz="20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E14ABF-B72A-4E5C-A4C4-2A1B7211CB09}"/>
              </a:ext>
            </a:extLst>
          </p:cNvPr>
          <p:cNvSpPr txBox="1">
            <a:spLocks/>
          </p:cNvSpPr>
          <p:nvPr/>
        </p:nvSpPr>
        <p:spPr>
          <a:xfrm>
            <a:off x="100489" y="4470401"/>
            <a:ext cx="3918623" cy="2387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u="sng" dirty="0" err="1"/>
              <a:t>Group</a:t>
            </a:r>
            <a:r>
              <a:rPr lang="tr-TR" b="1" u="sng" dirty="0"/>
              <a:t> Name</a:t>
            </a:r>
          </a:p>
          <a:p>
            <a:r>
              <a:rPr lang="tr-TR" b="1" u="sng" dirty="0"/>
              <a:t>Team Members</a:t>
            </a:r>
          </a:p>
          <a:p>
            <a:r>
              <a:rPr lang="tr-TR" b="1" dirty="0"/>
              <a:t>Firstname </a:t>
            </a:r>
            <a:r>
              <a:rPr lang="tr-TR" b="1" dirty="0" err="1"/>
              <a:t>Firstsurname</a:t>
            </a:r>
            <a:r>
              <a:rPr lang="tr-TR" b="1" dirty="0"/>
              <a:t> </a:t>
            </a:r>
            <a:endParaRPr lang="en-GB" b="1" dirty="0"/>
          </a:p>
          <a:p>
            <a:r>
              <a:rPr lang="tr-TR" b="1" dirty="0" err="1"/>
              <a:t>Secondname</a:t>
            </a:r>
            <a:r>
              <a:rPr lang="tr-TR" b="1" dirty="0"/>
              <a:t> </a:t>
            </a:r>
            <a:r>
              <a:rPr lang="tr-TR" b="1" dirty="0" err="1"/>
              <a:t>Secondsurname</a:t>
            </a:r>
            <a:r>
              <a:rPr lang="tr-TR" b="1" dirty="0"/>
              <a:t> </a:t>
            </a:r>
            <a:endParaRPr lang="en-GB" b="1" dirty="0"/>
          </a:p>
          <a:p>
            <a:r>
              <a:rPr lang="tr-TR" b="1" dirty="0" err="1"/>
              <a:t>Thirdname</a:t>
            </a:r>
            <a:r>
              <a:rPr lang="tr-TR" b="1" dirty="0"/>
              <a:t> </a:t>
            </a:r>
            <a:r>
              <a:rPr lang="tr-TR" b="1" dirty="0" err="1"/>
              <a:t>Thirdsurname</a:t>
            </a:r>
            <a:r>
              <a:rPr lang="tr-TR" b="1" dirty="0"/>
              <a:t> </a:t>
            </a:r>
            <a:endParaRPr lang="en-GB" b="1" dirty="0"/>
          </a:p>
          <a:p>
            <a:r>
              <a:rPr lang="tr-TR" b="1" dirty="0" err="1"/>
              <a:t>Fourtname</a:t>
            </a:r>
            <a:r>
              <a:rPr lang="tr-TR" b="1" dirty="0"/>
              <a:t> </a:t>
            </a:r>
            <a:r>
              <a:rPr lang="tr-TR" b="1" dirty="0" err="1"/>
              <a:t>Fourthsurname</a:t>
            </a:r>
            <a:r>
              <a:rPr lang="tr-TR" b="1" dirty="0"/>
              <a:t> </a:t>
            </a:r>
            <a:endParaRPr lang="en-GB" b="1" dirty="0"/>
          </a:p>
          <a:p>
            <a:r>
              <a:rPr lang="tr-TR" b="1" dirty="0" err="1"/>
              <a:t>Fifthname</a:t>
            </a:r>
            <a:r>
              <a:rPr lang="tr-TR" b="1" dirty="0"/>
              <a:t> </a:t>
            </a:r>
            <a:r>
              <a:rPr lang="tr-TR" b="1" dirty="0" err="1"/>
              <a:t>Fifthsurname</a:t>
            </a:r>
            <a:endParaRPr lang="en-GB" b="1" dirty="0"/>
          </a:p>
          <a:p>
            <a:endParaRPr lang="tr-TR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465" y="5182152"/>
            <a:ext cx="1598729" cy="15589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457" y="5182152"/>
            <a:ext cx="1598729" cy="155896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924" y="5182152"/>
            <a:ext cx="1598729" cy="15589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186" y="5182152"/>
            <a:ext cx="1598729" cy="15589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194" y="5182152"/>
            <a:ext cx="1598729" cy="1558960"/>
          </a:xfrm>
          <a:prstGeom prst="rect">
            <a:avLst/>
          </a:prstGeom>
        </p:spPr>
      </p:pic>
      <p:pic>
        <p:nvPicPr>
          <p:cNvPr id="6" name="Picture 2" descr="Istanbul Atlas University | Study in Turkey | Find And Study – No Exam,  Public &amp; Private Universities">
            <a:extLst>
              <a:ext uri="{FF2B5EF4-FFF2-40B4-BE49-F238E27FC236}">
                <a16:creationId xmlns:a16="http://schemas.microsoft.com/office/drawing/2014/main" id="{4C17D93E-66DD-C999-65B6-215C79D407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9" t="7303" r="22123" b="6744"/>
          <a:stretch>
            <a:fillRect/>
          </a:stretch>
        </p:blipFill>
        <p:spPr bwMode="auto">
          <a:xfrm>
            <a:off x="10490789" y="5"/>
            <a:ext cx="1701211" cy="163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1A05DC-2AEF-2DA8-B7B7-CA218C234003}"/>
              </a:ext>
            </a:extLst>
          </p:cNvPr>
          <p:cNvSpPr txBox="1"/>
          <p:nvPr/>
        </p:nvSpPr>
        <p:spPr>
          <a:xfrm>
            <a:off x="-105336" y="1811817"/>
            <a:ext cx="13838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Designing a Security Framework Based on Hybrid Communication in Internet of Nano Things</a:t>
            </a:r>
            <a:r>
              <a:rPr lang="en-GB" sz="2400" b="1" dirty="0">
                <a:effectLst/>
              </a:rPr>
              <a:t> 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753733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29CE3-56FB-04C5-4B01-CC8BEE2C4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B65A1AE-932D-02E6-DF68-37648429520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/>
              <a:t>General Statement </a:t>
            </a:r>
            <a:endParaRPr lang="tr-TR" sz="5400" b="1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79D8C20-1BD2-5F89-E838-C9969DD8C7B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373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tx1"/>
                </a:solidFill>
              </a:rPr>
              <a:t>T</a:t>
            </a:r>
            <a:r>
              <a:rPr lang="tr-TR" sz="3200" b="1" dirty="0">
                <a:solidFill>
                  <a:schemeClr val="tx1"/>
                </a:solidFill>
              </a:rPr>
              <a:t>he </a:t>
            </a:r>
            <a:r>
              <a:rPr lang="en-GB" sz="3200" b="1" dirty="0">
                <a:solidFill>
                  <a:schemeClr val="tx1"/>
                </a:solidFill>
              </a:rPr>
              <a:t>general idea</a:t>
            </a:r>
            <a:endParaRPr lang="tr-TR" sz="3200" b="1" dirty="0">
              <a:solidFill>
                <a:schemeClr val="tx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tr-TR" sz="3200" b="1" dirty="0">
              <a:solidFill>
                <a:schemeClr val="tx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tx1"/>
                </a:solidFill>
              </a:rPr>
              <a:t>Specific statements are sentences that allude to particular individuals, ideas, or things.</a:t>
            </a:r>
            <a:endParaRPr lang="tr-TR" sz="3200" b="1" dirty="0">
              <a:solidFill>
                <a:schemeClr val="tx1"/>
              </a:solidFill>
            </a:endParaRPr>
          </a:p>
        </p:txBody>
      </p:sp>
      <p:pic>
        <p:nvPicPr>
          <p:cNvPr id="17" name="Picture 2" descr="Istanbul Atlas University | Study in Turkey | Find And Study – No Exam,  Public &amp; Private Universities">
            <a:extLst>
              <a:ext uri="{FF2B5EF4-FFF2-40B4-BE49-F238E27FC236}">
                <a16:creationId xmlns:a16="http://schemas.microsoft.com/office/drawing/2014/main" id="{E31898ED-DE7A-C4CE-44FF-E94CDE4710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9" t="7303" r="22123" b="6744"/>
          <a:stretch>
            <a:fillRect/>
          </a:stretch>
        </p:blipFill>
        <p:spPr bwMode="auto">
          <a:xfrm>
            <a:off x="10490789" y="5"/>
            <a:ext cx="1701211" cy="163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316EA8-FC63-1404-4A71-A0284CF3A26E}"/>
              </a:ext>
            </a:extLst>
          </p:cNvPr>
          <p:cNvSpPr txBox="1"/>
          <p:nvPr/>
        </p:nvSpPr>
        <p:spPr>
          <a:xfrm>
            <a:off x="1006009" y="5945977"/>
            <a:ext cx="10179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Designing a Security Framework Based on Hybrid Communication in Internet of Nano Things</a:t>
            </a:r>
            <a:r>
              <a:rPr lang="en-GB" dirty="0">
                <a:effectLst/>
              </a:rPr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046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AA76-3024-1EC0-24E3-F9A808166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D4044E-931B-9BF3-3742-809136262D1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/>
              <a:t>Challenges Part</a:t>
            </a:r>
            <a:endParaRPr lang="tr-TR" sz="5400" b="1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C068B29-E3AE-256E-9541-F7999495B35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3736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tx1"/>
                </a:solidFill>
              </a:rPr>
              <a:t>Selecting a clear, feasible, and relevant research problem 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tx1"/>
                </a:solidFill>
              </a:rPr>
              <a:t>Locating reliable sources and accurately identifying research gaps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tx1"/>
                </a:solidFill>
              </a:rPr>
              <a:t>Choosing appropriate methods, data collection tools, or experimental setups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tx1"/>
                </a:solidFill>
              </a:rPr>
              <a:t>Overcoming  some specific issues</a:t>
            </a:r>
          </a:p>
        </p:txBody>
      </p:sp>
      <p:pic>
        <p:nvPicPr>
          <p:cNvPr id="17" name="Picture 2" descr="Istanbul Atlas University | Study in Turkey | Find And Study – No Exam,  Public &amp; Private Universities">
            <a:extLst>
              <a:ext uri="{FF2B5EF4-FFF2-40B4-BE49-F238E27FC236}">
                <a16:creationId xmlns:a16="http://schemas.microsoft.com/office/drawing/2014/main" id="{18235A4E-C0C4-FD14-931C-6CA0AC8CD1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9" t="7303" r="22123" b="6744"/>
          <a:stretch>
            <a:fillRect/>
          </a:stretch>
        </p:blipFill>
        <p:spPr bwMode="auto">
          <a:xfrm>
            <a:off x="10490789" y="5"/>
            <a:ext cx="1701211" cy="163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8FA1D1-B14C-4BAE-9693-064F4A34CDE8}"/>
              </a:ext>
            </a:extLst>
          </p:cNvPr>
          <p:cNvSpPr txBox="1"/>
          <p:nvPr/>
        </p:nvSpPr>
        <p:spPr>
          <a:xfrm>
            <a:off x="838200" y="6130643"/>
            <a:ext cx="10179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Designing a Security Framework Based on Hybrid Communication in Internet of Nano Things</a:t>
            </a:r>
            <a:r>
              <a:rPr lang="en-GB" dirty="0">
                <a:effectLst/>
              </a:rPr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2494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C4400-8EEC-1FB9-03BD-38196B80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7D61CFB-4A84-C728-FAEE-251142814DB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5400" b="1"/>
              <a:t>Project Goals</a:t>
            </a:r>
            <a:endParaRPr lang="tr-TR" sz="5400" b="1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2986001-800E-C256-9342-D61A8859194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373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>
              <a:buFont typeface="Arial" panose="020B0604020202020204" pitchFamily="34" charset="0"/>
              <a:buChar char="•"/>
            </a:pPr>
            <a:r>
              <a:rPr lang="tr-TR" sz="3200" b="1" dirty="0">
                <a:solidFill>
                  <a:schemeClr val="tx1"/>
                </a:solidFill>
              </a:rPr>
              <a:t>List the top three goals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endParaRPr lang="tr-TR" sz="3200" b="1" dirty="0">
              <a:solidFill>
                <a:schemeClr val="tx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tr-TR" sz="3200" b="1" dirty="0">
                <a:solidFill>
                  <a:schemeClr val="tx1"/>
                </a:solidFill>
              </a:rPr>
              <a:t>Goal two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endParaRPr lang="tr-TR" sz="3200" b="1" dirty="0">
              <a:solidFill>
                <a:schemeClr val="tx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tr-TR" sz="3200" b="1" dirty="0">
                <a:solidFill>
                  <a:schemeClr val="tx1"/>
                </a:solidFill>
              </a:rPr>
              <a:t>Goal three</a:t>
            </a:r>
          </a:p>
        </p:txBody>
      </p:sp>
      <p:pic>
        <p:nvPicPr>
          <p:cNvPr id="17" name="Picture 2" descr="Istanbul Atlas University | Study in Turkey | Find And Study – No Exam,  Public &amp; Private Universities">
            <a:extLst>
              <a:ext uri="{FF2B5EF4-FFF2-40B4-BE49-F238E27FC236}">
                <a16:creationId xmlns:a16="http://schemas.microsoft.com/office/drawing/2014/main" id="{2A67BABC-9E66-3492-7E17-B604310EE1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9" t="7303" r="22123" b="6744"/>
          <a:stretch>
            <a:fillRect/>
          </a:stretch>
        </p:blipFill>
        <p:spPr bwMode="auto">
          <a:xfrm>
            <a:off x="10490789" y="5"/>
            <a:ext cx="1701211" cy="163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24DFB4-E8B4-AE34-53DD-2F3DE4125BD0}"/>
              </a:ext>
            </a:extLst>
          </p:cNvPr>
          <p:cNvSpPr txBox="1"/>
          <p:nvPr/>
        </p:nvSpPr>
        <p:spPr>
          <a:xfrm>
            <a:off x="1173818" y="6063673"/>
            <a:ext cx="10179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Designing a Security Framework Based on Hybrid Communication in Internet of Nano Things</a:t>
            </a:r>
            <a:r>
              <a:rPr lang="en-GB" dirty="0">
                <a:effectLst/>
              </a:rPr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565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29D0D-1363-E24C-53DF-D29E9A43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7102E0-6954-15B9-1E30-54F53A4FA6DD}"/>
              </a:ext>
            </a:extLst>
          </p:cNvPr>
          <p:cNvSpPr txBox="1">
            <a:spLocks/>
          </p:cNvSpPr>
          <p:nvPr/>
        </p:nvSpPr>
        <p:spPr>
          <a:xfrm>
            <a:off x="130633" y="1325563"/>
            <a:ext cx="11927393" cy="5248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Overview of the </a:t>
            </a:r>
            <a:r>
              <a:rPr lang="tr-TR" sz="2800" dirty="0">
                <a:solidFill>
                  <a:schemeClr val="tx1"/>
                </a:solidFill>
              </a:rPr>
              <a:t>Basic Methodology</a:t>
            </a:r>
          </a:p>
          <a:p>
            <a:endParaRPr lang="tr-TR" sz="2800" dirty="0">
              <a:solidFill>
                <a:schemeClr val="tx1"/>
              </a:solidFill>
            </a:endParaRPr>
          </a:p>
          <a:p>
            <a:r>
              <a:rPr lang="tr-TR" sz="2800" b="1" dirty="0">
                <a:solidFill>
                  <a:schemeClr val="tx1"/>
                </a:solidFill>
              </a:rPr>
              <a:t>Model: </a:t>
            </a:r>
            <a:r>
              <a:rPr lang="tr-TR" sz="2800" dirty="0">
                <a:solidFill>
                  <a:schemeClr val="tx1"/>
                </a:solidFill>
              </a:rPr>
              <a:t>Explain the method used in the Project.</a:t>
            </a:r>
          </a:p>
          <a:p>
            <a:endParaRPr lang="tr-TR" sz="2800" b="1" dirty="0">
              <a:solidFill>
                <a:schemeClr val="tx1"/>
              </a:solidFill>
            </a:endParaRPr>
          </a:p>
          <a:p>
            <a:r>
              <a:rPr lang="tr-TR" sz="2800" b="1" dirty="0">
                <a:solidFill>
                  <a:schemeClr val="tx1"/>
                </a:solidFill>
              </a:rPr>
              <a:t>Design: </a:t>
            </a:r>
            <a:r>
              <a:rPr lang="tr-TR" sz="2800" dirty="0">
                <a:solidFill>
                  <a:schemeClr val="tx1"/>
                </a:solidFill>
              </a:rPr>
              <a:t>Give a brief information about design.</a:t>
            </a:r>
          </a:p>
          <a:p>
            <a:endParaRPr lang="tr-TR" sz="2800" b="1" dirty="0">
              <a:solidFill>
                <a:schemeClr val="tx1"/>
              </a:solidFill>
            </a:endParaRPr>
          </a:p>
          <a:p>
            <a:r>
              <a:rPr lang="tr-TR" sz="2800" b="1" dirty="0">
                <a:solidFill>
                  <a:schemeClr val="tx1"/>
                </a:solidFill>
              </a:rPr>
              <a:t>Implementation: </a:t>
            </a:r>
            <a:r>
              <a:rPr lang="en-US" sz="2800" dirty="0">
                <a:solidFill>
                  <a:schemeClr val="tx1"/>
                </a:solidFill>
              </a:rPr>
              <a:t>Create technical document on how to implement it.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tr-TR" sz="2800" b="1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A47F4A8-098B-ED69-7A3F-06D1748EA49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5400" b="1" dirty="0"/>
              <a:t>Design &amp; Implementation</a:t>
            </a:r>
          </a:p>
        </p:txBody>
      </p:sp>
      <p:pic>
        <p:nvPicPr>
          <p:cNvPr id="4" name="Picture 2" descr="Istanbul Atlas University | Study in Turkey | Find And Study – No Exam,  Public &amp; Private Universities">
            <a:extLst>
              <a:ext uri="{FF2B5EF4-FFF2-40B4-BE49-F238E27FC236}">
                <a16:creationId xmlns:a16="http://schemas.microsoft.com/office/drawing/2014/main" id="{76B9EB33-BD23-337E-B853-F6E079A43E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9" t="7303" r="22123" b="6744"/>
          <a:stretch>
            <a:fillRect/>
          </a:stretch>
        </p:blipFill>
        <p:spPr bwMode="auto">
          <a:xfrm>
            <a:off x="10490789" y="5"/>
            <a:ext cx="1701211" cy="163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148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B4D61-2FF9-7ABD-EB0E-17ADBA5B5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D30F062-12BB-9579-448E-3B4E93F3936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5400" b="1"/>
              <a:t>Key Points</a:t>
            </a:r>
            <a:endParaRPr lang="tr-TR" sz="54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AEFBB0-6F19-C42B-689A-B17FFA81893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dirty="0">
                <a:solidFill>
                  <a:schemeClr val="tx1"/>
                </a:solidFill>
              </a:rPr>
              <a:t>List 3 key points and explain in detail.</a:t>
            </a:r>
          </a:p>
          <a:p>
            <a:endParaRPr lang="tr-TR" sz="2800" dirty="0">
              <a:solidFill>
                <a:schemeClr val="tx1"/>
              </a:solidFill>
            </a:endParaRPr>
          </a:p>
        </p:txBody>
      </p:sp>
      <p:pic>
        <p:nvPicPr>
          <p:cNvPr id="7" name="Picture 2" descr="Istanbul Atlas University | Study in Turkey | Find And Study – No Exam,  Public &amp; Private Universities">
            <a:extLst>
              <a:ext uri="{FF2B5EF4-FFF2-40B4-BE49-F238E27FC236}">
                <a16:creationId xmlns:a16="http://schemas.microsoft.com/office/drawing/2014/main" id="{FC8511DD-3708-9772-D6BB-78A123C9CD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9" t="7303" r="22123" b="6744"/>
          <a:stretch>
            <a:fillRect/>
          </a:stretch>
        </p:blipFill>
        <p:spPr bwMode="auto">
          <a:xfrm>
            <a:off x="10490789" y="5"/>
            <a:ext cx="1701211" cy="163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24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A40D5-BCC8-2005-1B4E-FD656E4B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B66F-6041-AC1A-CE5A-92D1023E099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5400" b="1"/>
              <a:t>Main Findings</a:t>
            </a:r>
            <a:endParaRPr lang="tr-TR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725B5-5D0A-1FAB-1382-96B07AF71A2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>
              <a:buFont typeface="Arial" panose="020B0604020202020204" pitchFamily="34" charset="0"/>
              <a:buChar char="•"/>
            </a:pPr>
            <a:r>
              <a:rPr lang="tr-TR" sz="2800" dirty="0">
                <a:solidFill>
                  <a:schemeClr val="tx1"/>
                </a:solidFill>
              </a:rPr>
              <a:t>Main findings should be given</a:t>
            </a:r>
            <a:endParaRPr lang="en-US" sz="2800" dirty="0">
              <a:solidFill>
                <a:schemeClr val="tx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Code</a:t>
            </a:r>
            <a:r>
              <a:rPr lang="en-US" sz="2800" dirty="0">
                <a:solidFill>
                  <a:schemeClr val="tx1"/>
                </a:solidFill>
              </a:rPr>
              <a:t> for technical people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Technical specs </a:t>
            </a:r>
            <a:r>
              <a:rPr lang="en-US" sz="2800" dirty="0">
                <a:solidFill>
                  <a:schemeClr val="tx1"/>
                </a:solidFill>
              </a:rPr>
              <a:t>of implementing the code </a:t>
            </a:r>
          </a:p>
        </p:txBody>
      </p:sp>
      <p:pic>
        <p:nvPicPr>
          <p:cNvPr id="4" name="Picture 2" descr="Istanbul Atlas University | Study in Turkey | Find And Study – No Exam,  Public &amp; Private Universities">
            <a:extLst>
              <a:ext uri="{FF2B5EF4-FFF2-40B4-BE49-F238E27FC236}">
                <a16:creationId xmlns:a16="http://schemas.microsoft.com/office/drawing/2014/main" id="{D30E7030-165D-9195-5DBB-40F9A9DD98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9" t="7303" r="22123" b="6744"/>
          <a:stretch>
            <a:fillRect/>
          </a:stretch>
        </p:blipFill>
        <p:spPr bwMode="auto">
          <a:xfrm>
            <a:off x="10490789" y="5"/>
            <a:ext cx="1701211" cy="163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638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D56C0-33C4-D2B9-0D96-D9287D3E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2395F74-5BDB-6981-C350-7C85D219ED2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5400" b="1"/>
              <a:t>Conclusion</a:t>
            </a:r>
            <a:endParaRPr lang="tr-TR" sz="54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79AB0DF-98E4-9856-7116-D0C5CFE56DC1}"/>
              </a:ext>
            </a:extLst>
          </p:cNvPr>
          <p:cNvSpPr txBox="1">
            <a:spLocks/>
          </p:cNvSpPr>
          <p:nvPr/>
        </p:nvSpPr>
        <p:spPr>
          <a:xfrm>
            <a:off x="456363" y="1242824"/>
            <a:ext cx="10515600" cy="46455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Summarize the key points.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Emphasize your most important points. 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Consider the implications of your message for the future or call your audience to action.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Choose a closing words and give the audience a moment to process your final idea before asking for questions.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Acknowledge others</a:t>
            </a:r>
            <a:r>
              <a:rPr lang="tr-TR" sz="2800" dirty="0">
                <a:solidFill>
                  <a:schemeClr val="tx1"/>
                </a:solidFill>
              </a:rPr>
              <a:t> (use next slide)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7" name="Picture 2" descr="Istanbul Atlas University | Study in Turkey | Find And Study – No Exam,  Public &amp; Private Universities">
            <a:extLst>
              <a:ext uri="{FF2B5EF4-FFF2-40B4-BE49-F238E27FC236}">
                <a16:creationId xmlns:a16="http://schemas.microsoft.com/office/drawing/2014/main" id="{9B02295A-7125-71A8-F304-42CC7A96CC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9" t="7303" r="22123" b="6744"/>
          <a:stretch>
            <a:fillRect/>
          </a:stretch>
        </p:blipFill>
        <p:spPr bwMode="auto">
          <a:xfrm>
            <a:off x="10490789" y="5"/>
            <a:ext cx="1701211" cy="163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01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2E1BC-76AF-4709-80B9-7ADEE2D16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Acknowledge your project supervisor and/or mentors, and acknowledge the contribution of your project team members and to all who supported.</a:t>
            </a:r>
            <a:endParaRPr lang="tr-TR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BBA52B-3A46-41B5-BD16-F20FB520E2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283462" cy="894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600" b="1" dirty="0"/>
              <a:t>Acknowledgment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58" y="4626935"/>
            <a:ext cx="1598729" cy="15589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002" y="4625932"/>
            <a:ext cx="1598729" cy="15589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517" y="4618003"/>
            <a:ext cx="1598729" cy="15589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376" y="4618003"/>
            <a:ext cx="1598729" cy="15589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881" y="4618003"/>
            <a:ext cx="1598729" cy="155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3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D9BD-3DB4-4A1A-A7E4-BF71A4BE2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Reference</a:t>
            </a:r>
            <a:r>
              <a:rPr lang="tr-TR" dirty="0" err="1"/>
              <a:t>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2E1BC-76AF-4709-80B9-7ADEE2D16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42912" indent="-542912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	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Maiers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S.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Sherif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“Application of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IEEE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Man,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Cybernetics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SMC-15, 41–48, 1985.</a:t>
            </a:r>
          </a:p>
          <a:p>
            <a:pPr marL="542912" indent="-542912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	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Doebelin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Control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Design, John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Wiley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New York, 1985.</a:t>
            </a:r>
          </a:p>
          <a:p>
            <a:pPr marL="542912" indent="-542912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	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Banerjee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K.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Butterfield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editors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Development of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Boundary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London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1980.</a:t>
            </a:r>
          </a:p>
          <a:p>
            <a:pPr marL="542912" indent="-542912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	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Efstathiou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“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Rule-based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Using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in E.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Sanchez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A.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Zadeh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145–158,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Pergamon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Oxford, 1987.</a:t>
            </a:r>
          </a:p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544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F3E87D-28D6-903E-6318-CA21B78CA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8F7D-AA6C-6760-3AEB-ED0403F4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44145">
              <a:lnSpc>
                <a:spcPct val="107000"/>
              </a:lnSpc>
              <a:spcAft>
                <a:spcPts val="800"/>
              </a:spcAft>
            </a:pPr>
            <a:r>
              <a:rPr lang="tr-T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What</a:t>
            </a:r>
            <a:r>
              <a:rPr lang="tr-T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must be </a:t>
            </a:r>
            <a:r>
              <a:rPr lang="tr-T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submitted</a:t>
            </a:r>
            <a:r>
              <a:rPr lang="tr-T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?</a:t>
            </a:r>
            <a:endParaRPr lang="en-GB" sz="20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6930AD-35F2-FA56-39B6-794732B49AEE}"/>
              </a:ext>
            </a:extLst>
          </p:cNvPr>
          <p:cNvSpPr txBox="1"/>
          <p:nvPr/>
        </p:nvSpPr>
        <p:spPr>
          <a:xfrm>
            <a:off x="3048886" y="1686151"/>
            <a:ext cx="8572500" cy="2211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44145"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200" kern="1200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tr-TR" sz="2200" kern="1200" dirty="0" err="1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archive</a:t>
            </a:r>
            <a:r>
              <a:rPr lang="tr-TR" sz="2200" kern="1200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(.</a:t>
            </a:r>
            <a:r>
              <a:rPr lang="tr-TR" sz="2200" kern="1200" dirty="0" err="1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zip</a:t>
            </a:r>
            <a:r>
              <a:rPr lang="tr-TR" sz="2200" kern="1200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tr-TR" sz="2200" kern="1200" dirty="0" err="1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or</a:t>
            </a:r>
            <a:r>
              <a:rPr lang="tr-TR" sz="2200" kern="1200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.rar) file </a:t>
            </a:r>
            <a:r>
              <a:rPr lang="tr-TR" sz="2200" kern="1200" dirty="0" err="1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containing</a:t>
            </a:r>
            <a:r>
              <a:rPr lang="tr-TR" sz="2200" kern="1200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GB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914400" algn="l"/>
              </a:tabLst>
            </a:pPr>
            <a:r>
              <a:rPr lang="tr-TR" sz="2200" kern="1200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Report file (</a:t>
            </a:r>
            <a:r>
              <a:rPr lang="tr-TR" sz="2200" kern="1200" dirty="0" err="1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Only</a:t>
            </a:r>
            <a:r>
              <a:rPr lang="tr-TR" sz="2200" kern="1200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WORD File)</a:t>
            </a:r>
            <a:endParaRPr lang="en-GB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914400" algn="l"/>
              </a:tabLst>
            </a:pPr>
            <a:r>
              <a:rPr lang="tr-TR" sz="2200" kern="1200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Presentation file (PowerPoint)</a:t>
            </a:r>
            <a:endParaRPr lang="en-GB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914400" algn="l"/>
              </a:tabLst>
            </a:pPr>
            <a:r>
              <a:rPr lang="tr-TR" sz="2200" kern="1200" dirty="0" smtClean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Recording </a:t>
            </a:r>
            <a:r>
              <a:rPr lang="tr-TR" sz="2200" kern="1200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demonstrating </a:t>
            </a:r>
            <a:r>
              <a:rPr lang="en-GB" sz="2200" kern="1200" dirty="0" smtClean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of your project </a:t>
            </a:r>
            <a:r>
              <a:rPr lang="tr-TR" sz="2200" kern="1200" dirty="0" smtClean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GB" sz="2200" dirty="0">
                <a:solidFill>
                  <a:srgbClr val="4472C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tr-TR" sz="2200" kern="1200" dirty="0" smtClean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-min </a:t>
            </a:r>
            <a:r>
              <a:rPr lang="tr-TR" sz="2200" kern="1200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video file, preferably embedded in the presentation file)</a:t>
            </a:r>
            <a:endParaRPr lang="en-GB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7392F1-4F94-382D-B39C-2C705DFB9B4D}"/>
              </a:ext>
            </a:extLst>
          </p:cNvPr>
          <p:cNvSpPr txBox="1"/>
          <p:nvPr/>
        </p:nvSpPr>
        <p:spPr>
          <a:xfrm>
            <a:off x="838199" y="5171849"/>
            <a:ext cx="11112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Students are required to prepare a detailed report that includes simulation </a:t>
            </a:r>
            <a:r>
              <a:rPr lang="en-US" sz="1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results (If they use),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photos of the project, information about the components used, and a comprehensive narrative of the design. 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321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</TotalTime>
  <Words>451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Technical Notes for team members  This presentation should be a technical presentation  Maximum 15 pages</vt:lpstr>
      <vt:lpstr>Interdisciplinary Design Studies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What must be submitted?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Bankrupcy Classification</dc:title>
  <dc:creator>arsan@khas.edu.tr</dc:creator>
  <cp:lastModifiedBy>Seyed Sajad Ahmadpour</cp:lastModifiedBy>
  <cp:revision>80</cp:revision>
  <dcterms:created xsi:type="dcterms:W3CDTF">2019-05-26T13:34:01Z</dcterms:created>
  <dcterms:modified xsi:type="dcterms:W3CDTF">2025-11-01T05:59:35Z</dcterms:modified>
</cp:coreProperties>
</file>